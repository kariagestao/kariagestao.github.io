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">
    <p:bg>
      <p:bgPr>
        <a:solidFill>
          <a:srgbClr val="1A3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0" y="-1097280"/>
            <a:ext cx="5029200" cy="73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0" dirty="0">
                <a:solidFill>
                  <a:srgbClr val="0F284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4864" cy="25603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CÓDIGO DO</a:t>
            </a:r>
            <a:endParaRPr lang="en-US" sz="4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CONTROLLER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teoria não ensina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prática cobra.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224528"/>
            <a:ext cx="27432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3159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NATHALYA PEREIRA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Jurídico  |  KARIA Gestão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1446581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144658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AUTORA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Quem escreveu este material — e por quê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Nathalya Pereira é advogada (OAB/RS) e Controller Jurídico com quase 10 anos de experiência em escritórios de advocacia de diferentes portes e áreas de atuação.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97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Fundou a KARIA Gestão para profissionalizar a Controladoria Jurídica — e hoje tem foco em formar os profissionais que farão isso bem.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3016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"Este material é o que eu precisava ter encontrado quando comecei."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1463040"/>
            <a:ext cx="2926080" cy="329184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719072"/>
            <a:ext cx="36576" cy="3200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80760" y="170078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Advogada OAB/RS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2267712"/>
            <a:ext cx="36576" cy="3200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80760" y="22494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Jurídico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2816352"/>
            <a:ext cx="36576" cy="3200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279806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em Gestão de Processos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3364992"/>
            <a:ext cx="36576" cy="3200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33467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 em Legal Ops e Controladoria Jurídica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97880" y="3913632"/>
            <a:ext cx="36576" cy="3200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80760" y="38953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Fundadora da KARIA Gestão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MATERIAL EXISTE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 Controladoria Jurídica não tem um manual pronto.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1148" cy="47548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385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conhecimento está disperso em experiências individuais que raramente são compartilhadas.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41148" cy="47548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76148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cursos ensinam controladoria financeira. O escritório de advocacia tem uma lógica completamente diferente.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41148" cy="47548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5844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profissional chega e descobre que vai precisar construir o caminho andando — geralmente sozinho.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não é teórico. É o que aprendi fazendo.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653589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65358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ENCONTRAR AQUI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Os 5 maiores desafios do Controller Jurídico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7333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2821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referência técnica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02996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buscar quando você trava numa situação real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50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7333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38658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Resistência cultural interna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68833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implementar processos num ambiente que resiste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08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7333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04495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Acúmulo de funções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34670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 o que não é sua responsabilidade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66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7333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7033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e posicionamento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00507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tornar seu trabalho visível e valorizado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25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7333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36168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genérica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66344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suprir o gap entre teoria e realidade jurídica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0" y="-822960"/>
            <a:ext cx="502920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0" dirty="0">
                <a:solidFill>
                  <a:srgbClr val="0E2436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01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" cy="25603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Falta de referência técnica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i="1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consultar quando você trava numa situação real que nunca viu antes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005072"/>
            <a:ext cx="1645920" cy="3200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814523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8145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01  ·  A SITUAÇÃO REAL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Falta de referência técnica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50292" cy="27432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81328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828800"/>
            <a:ext cx="7818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700" i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terça-feira. O sócio entra com uma planilha e precisa de uma análise até sexta. Você pesquisa, adapta conteúdo de outras áreas, tenta. E torce para dar certo. Quando não dá — a culpa cai sobre a gestão.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251253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25125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01  ·  O PADRÃO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geralmente acontece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55064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no Google e encontra controladoria industrial, bancária, de varejo — nunca jurídica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688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450592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 conceitos de empresa de produto numa estrutura de serviço e cria confusão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644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46120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opinião em grupos e recebe 3 respostas contraditórias, nenhuma com contexto real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599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41648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sozinho, sob pressão, sem registrar o raciocínio que levou àquela decisão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492654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4926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01  ·  A ABORDAGEM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eu faria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55064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 acervo interno: documentar cada problema novo com o que tentou e o que funcionou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688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450592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 transversal: Controllers de outras áreas ensinam lógica de gestão, mesmo sem conhecer o jurídico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644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46120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o raciocínio dos advogados antes de propor qualquer processo — o que parece teimosia muitas vezes é lógica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599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41648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decidir sem registrar o caminho — o erro de hoje é o aprendizado de amanhã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0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trava, o que faz?</a:t>
            </a:r>
            <a:endParaRPr lang="en-US" sz="22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revela onde estão seus gaps reais.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074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0" y="-822960"/>
            <a:ext cx="502920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0" dirty="0">
                <a:solidFill>
                  <a:srgbClr val="0E2436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02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" cy="25603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Resistência cultural interna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i="1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implementar processos num ambiente que resiste à mudança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005072"/>
            <a:ext cx="1645920" cy="3200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814523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8145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02  ·  A SITUAÇÃO REAL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Resistência cultural interna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50292" cy="27432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81328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828800"/>
            <a:ext cx="7818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700" i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implementou um processo. Os sócios aprovaram em reunião. Em duas semanas, voltaram ao jeito antigo. A reunião foi boa — mas o escritório não mudou.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251253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25125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02  ·  O PADRÃO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geralmente acontece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55064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ferramentas sem preparar as pessoas para a mudança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688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450592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 solução técnica para um problema que é, no fundo, cultural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644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46120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 adesão espontânea que nunca vem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599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41648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 cada objeção como obstáculo — quando ela é, na verdade, informação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492654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4926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02  ·  A ABORDAGEM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eu faria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55064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pelo diagnóstico: o que os sócios precisam ver para confiar no processo?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688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450592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em fases pequenas — uma vitória visível antes de escalar qualquer coisa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644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46120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um aliado interno antes de tentar o grupo inteiro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599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41648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cada objeção como dado: ela revela o que o processo ainda não considerou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0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perfeito que ninguém usa não existe.</a:t>
            </a:r>
            <a:endParaRPr lang="en-US" sz="22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imperfeito que todos adotam, sim.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074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0" y="-822960"/>
            <a:ext cx="502920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0" dirty="0">
                <a:solidFill>
                  <a:srgbClr val="0E2436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03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" cy="25603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Acúmulo de funções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i="1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 o que não é responsabilidade do Controller Jurídico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005072"/>
            <a:ext cx="1645920" cy="3200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814523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8145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03  ·  A SITUAÇÃO REAL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Acúmulo de funções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50292" cy="27432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81328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828800"/>
            <a:ext cx="7818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700" i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da controladoria, você é o RH na demissão, o TI quando o sistema cai, o mediador quando advogado e cliente se estranham. E ainda precisa fechar o relatório mensal.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251253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25125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03  ·  O PADRÃO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geralmente acontece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55064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tudo porque "é só dessa vez" — que acaba virando rotina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688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450592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 clareza do que é e do que não é sua função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644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46120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documenta o que faz — a empresa não sabe o que perderia se você fosse embora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599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41648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Esgota sem conseguir executar bem o que realmente pertence à sua área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492654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4926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03  ·  A ABORDAGEM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eu faria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55064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todas as atividades realizadas por 30 dias — sem filtro, sem julgamento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688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450592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Categorizar: controladoria, gestão geral, suporte operacional, outros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644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46120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o mapa para os sócios como diagnóstico, não como reclamação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599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41648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 com dados: o que fica, o que vai para outro, o que simplesmente some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0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fosse embora amanhã, a empresa saberia</a:t>
            </a:r>
            <a:endParaRPr lang="en-US" sz="22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você faz? Você sabe?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074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0" y="-822960"/>
            <a:ext cx="502920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0" dirty="0">
                <a:solidFill>
                  <a:srgbClr val="0E2436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04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" cy="25603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Reconhecimento e posicionamento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i="1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tornar o seu trabalho visível dentro e fora do escritório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005072"/>
            <a:ext cx="1645920" cy="3200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814523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8145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04  ·  A SITUAÇÃO REAL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Reconhecimento e posicionamento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50292" cy="27432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81328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828800"/>
            <a:ext cx="7818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700" i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entrega resultado. O escritório cresceu, se organizou, parou de perder dinheiro. Mas na hora de negociar salário ou plano de carreira, não sabe como justificar o que faz.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251253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25125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04  ·  O PADRÃO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geralmente acontece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55064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 indicadores que mostrem o impacto concreto do seu trabalho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688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450592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Compara-se a perfis mais conhecidos (financeiro, administrativo) e sai perdendo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644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46120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que o resultado fale por si — e ele não fala, alguém precisa contar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599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41648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posiciona como executor, não como estrategista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492654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4926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04  ·  A ABORDAGEM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eu faria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55064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painel simples de indicadores e apresentar mensalmente aos sócios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688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450592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Quantificar o antes e depois de cada processo implementado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644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46120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o trabalho: Controller Jurídico tem função, escopo e nomenclatura definidos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599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41648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presença fora do escritório: LinkedIn, eventos, conexões da área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0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não reconhece o que não consegue nomear.</a:t>
            </a:r>
            <a:endParaRPr lang="en-US" sz="22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se apresenta?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074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0" y="-822960"/>
            <a:ext cx="502920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0" dirty="0">
                <a:solidFill>
                  <a:srgbClr val="0E2436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05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" cy="25603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Formação genérica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i="1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suprir o gap entre o que os cursos ensinam e o que o escritório cobra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005072"/>
            <a:ext cx="1645920" cy="3200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814523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8145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05  ·  A SITUAÇÃO REAL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Formação genérica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50292" cy="27432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81328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828800"/>
            <a:ext cx="7818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700" i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estudou controladoria. Aprendeu DRE, balanço, fluxo de caixa. Chegou num escritório e descobriu que a lógica é outra. Ninguém te ensinou precificação de hora jurídica, gestão de contingenciamento, inadimplência com cliente ativo.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251253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25125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05  ·  O PADRÃO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geralmente acontece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55064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conceitos de empresa de produto em estrutura de serviço — e o resultado não fecha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688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450592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relatórios que os advogados não leem porque não fazem sentido para eles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644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46120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Subestima a lógica do escritório e perde credibilidade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347472" cy="347472"/>
          </a:xfrm>
          <a:prstGeom prst="ellipse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599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41648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investe em especialização porque "não há cursos específicos"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2492654" cy="246888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24926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05  ·  A ABORDAGEM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F2D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eu faria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822960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733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55064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Estudar a lógica do negócio jurídico antes de implementar qualquer coisa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688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450592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ler processo judicial como documento que impacta o financeiro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644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46120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relatórios no vocabulário do advogado, não do contador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347472" cy="347472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599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41648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conexão com outros Controllers Jurídicos — essa rede é sua real pós-graduação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97A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0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Controladoria Jurídica é nova.</a:t>
            </a:r>
            <a:endParaRPr lang="en-US" sz="22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se especializa agora define o padrão de amanhã.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074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05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A3042"/>
          </a:solidFill>
          <a:ln w="12700">
            <a:solidFill>
              <a:srgbClr val="1A3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9144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Você chegou até aqui.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4813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já diz muito sobre você.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29968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Controladoria Jurídica não tem um manual pronto. Mas tem pessoas que escolheram construir o caminho com mais consciência.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quiser aprofundar um desafio específico, a Mentoria Individual existe pra isso.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4187952"/>
            <a:ext cx="3474720" cy="274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" y="427939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kariagestao.com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0058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CÓDIGO DO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CONTROLLER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34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7333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KARIA Gestão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3375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que entrega.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que transforma.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kariagestao.com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RIA Gestao">
  <a:themeElements>
    <a:clrScheme name="KARIA Gestao">
      <a:dk1>
        <a:srgbClr val="0D1F2D"/>
      </a:dk1>
      <a:lt1>
        <a:srgbClr val="F8F6F3"/>
      </a:lt1>
      <a:dk2>
        <a:srgbClr val="2A3F54"/>
      </a:dk2>
      <a:lt2>
        <a:srgbClr val="FFFFFF"/>
      </a:lt2>
      <a:accent1>
        <a:srgbClr val="B87333"/>
      </a:accent1>
      <a:accent2>
        <a:srgbClr val="C9A97A"/>
      </a:accent2>
      <a:accent3>
        <a:srgbClr val="8B5E3C"/>
      </a:accent3>
      <a:accent4>
        <a:srgbClr val="4A6280"/>
      </a:accent4>
      <a:accent5>
        <a:srgbClr val="7A9BAA"/>
      </a:accent5>
      <a:accent6>
        <a:srgbClr val="E8E0D5"/>
      </a:accent6>
      <a:hlink>
        <a:srgbClr val="B87333"/>
      </a:hlink>
      <a:folHlink>
        <a:srgbClr val="8B5E3C"/>
      </a:folHlink>
    </a:clrScheme>
    <a:fontScheme name="KARIA Gestao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Codigo do Controller</dc:title>
  <dc:subject>Controladoria Juridica</dc:subject>
  <dc:creator>Nathalya Pereira</dc:creator>
  <cp:lastModifiedBy>Nathalya Pereira</cp:lastModifiedBy>
  <cp:revision>1</cp:revision>
  <dcterms:created xsi:type="dcterms:W3CDTF">2026-10-15T18:48:57Z</dcterms:created>
  <dcterms:modified xsi:type="dcterms:W3CDTF">2026-10-15T18:48:57Z</dcterms:modified>
</cp:coreProperties>
</file>